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77" r:id="rId16"/>
    <p:sldId id="268" r:id="rId17"/>
    <p:sldId id="269" r:id="rId18"/>
    <p:sldId id="270" r:id="rId19"/>
    <p:sldId id="275" r:id="rId20"/>
    <p:sldId id="276" r:id="rId21"/>
    <p:sldId id="271" r:id="rId22"/>
    <p:sldId id="272" r:id="rId23"/>
    <p:sldId id="278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41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WhatsApp Image 2023-04-09 at 10.05.47 AM.jpeg"/>
          <p:cNvPicPr>
            <a:picLocks noChangeAspect="1"/>
          </p:cNvPicPr>
          <p:nvPr userDrawn="1"/>
        </p:nvPicPr>
        <p:blipFill>
          <a:blip r:embed="rId13">
            <a:lum bright="78000" contrast="-15000"/>
          </a:blip>
          <a:stretch>
            <a:fillRect/>
          </a:stretch>
        </p:blipFill>
        <p:spPr>
          <a:xfrm>
            <a:off x="0" y="-1024434"/>
            <a:ext cx="9144000" cy="8742046"/>
          </a:xfrm>
          <a:prstGeom prst="rect">
            <a:avLst/>
          </a:prstGeom>
        </p:spPr>
      </p:pic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52C5940-C9A9-465A-9141-1BA19FB2A77A}" type="datetimeFigureOut">
              <a:rPr lang="en-US" smtClean="0"/>
              <a:pPr/>
              <a:t>6/6/2026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7F85E0A-C173-4A44-ACC7-F9F067EE13C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811C-BEE7-4542-AA35-D8924B5578B5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E538-C3E3-4C30-8CF6-D9F29B9CB8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satya-ranjan-patnaik-725477134_learningandexecution-manufacturinglogistics-activity-7452593949778808832--qiQ?utm_source=share&amp;utm_medium=member_android&amp;rcm=ACoAACDRGk0BNWsJm1CeeKZylv0vvLohLr77TMU" TargetMode="External"/><Relationship Id="rId2" Type="http://schemas.openxmlformats.org/officeDocument/2006/relationships/hyperlink" Target="https://www.linkedin.com/posts/satya-ranjan-patnaik-725477134_learningandexecution-fmcg-supplychain-activity-7452200173717594112--NHq?utm_source=share&amp;utm_medium=member_android&amp;rcm=ACoAACDRGk0BNWsJm1CeeKZylv0vvLohLr77TMU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posts/satya-ranjan-patnaik-725477134_learningandexecution-logistics-supplychain-activity-7453034569470988288-A1f5?utm_source=share&amp;utm_medium=member_android&amp;rcm=ACoAACDRGk0BNWsJm1CeeKZylv0vvLohLr77TMU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Satyaniks1@gmail.com" TargetMode="External"/><Relationship Id="rId2" Type="http://schemas.openxmlformats.org/officeDocument/2006/relationships/hyperlink" Target="mailto:ampy.logi21@gmail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in/satya-ranjan-patnaik-725477134" TargetMode="External"/><Relationship Id="rId4" Type="http://schemas.openxmlformats.org/officeDocument/2006/relationships/hyperlink" Target="https://www.linkedin.com/company/ampy-log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2500306"/>
            <a:ext cx="8172480" cy="941385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 smtClean="0"/>
              <a:t>AMPY LOGI </a:t>
            </a:r>
            <a:r>
              <a:rPr lang="en-IN" sz="2000" i="1" dirty="0" smtClean="0"/>
              <a:t>– Building the operating system for Relocation &amp; Logistics Services.</a:t>
            </a:r>
            <a:endParaRPr lang="en-US" sz="20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7460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sz="2200" b="1" dirty="0" smtClean="0"/>
              <a:t>Subtitle – </a:t>
            </a:r>
            <a:r>
              <a:rPr lang="en-US" sz="2200" i="1" dirty="0" smtClean="0"/>
              <a:t>Technology driven B2B, B2C &amp; B2V Logistics Network.</a:t>
            </a:r>
          </a:p>
          <a:p>
            <a:pPr algn="l"/>
            <a:r>
              <a:rPr lang="en-IN" dirty="0" smtClean="0"/>
              <a:t> </a:t>
            </a:r>
          </a:p>
          <a:p>
            <a:pPr algn="l"/>
            <a:endParaRPr lang="en-US" dirty="0"/>
          </a:p>
        </p:txBody>
      </p:sp>
      <p:pic>
        <p:nvPicPr>
          <p:cNvPr id="4" name="Picture 3" descr="WhatsApp Image 2023-04-09 at 10.05.47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12" y="0"/>
            <a:ext cx="2786082" cy="27499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4282" y="521495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 smtClean="0"/>
          </a:p>
          <a:p>
            <a:r>
              <a:rPr lang="en-US" dirty="0" smtClean="0"/>
              <a:t>Founder- Satya Ranjan Patnaik </a:t>
            </a:r>
          </a:p>
          <a:p>
            <a:r>
              <a:rPr lang="en-IN" dirty="0" smtClean="0"/>
              <a:t>Location Access – PAN India</a:t>
            </a:r>
          </a:p>
          <a:p>
            <a:r>
              <a:rPr lang="en-IN" dirty="0" smtClean="0"/>
              <a:t>Business Contact - 9777013918</a:t>
            </a:r>
            <a:endParaRPr lang="en-US" dirty="0" smtClean="0"/>
          </a:p>
          <a:p>
            <a:r>
              <a:rPr lang="en-US" dirty="0" smtClean="0"/>
              <a:t>Website - (Coming Soon)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 smtClean="0"/>
              <a:t>* Who We Are :-</a:t>
            </a:r>
          </a:p>
          <a:p>
            <a:pPr>
              <a:buNone/>
            </a:pPr>
            <a:r>
              <a:rPr lang="en-US" dirty="0" smtClean="0"/>
              <a:t>👉</a:t>
            </a:r>
            <a:r>
              <a:rPr lang="en-US" sz="1800" dirty="0" err="1" smtClean="0"/>
              <a:t>Ampy</a:t>
            </a:r>
            <a:r>
              <a:rPr lang="en-US" sz="1800" dirty="0" smtClean="0"/>
              <a:t> Logi is a logistics and relocation platform connecting:-</a:t>
            </a:r>
          </a:p>
          <a:p>
            <a:r>
              <a:rPr lang="en-US" sz="1800" dirty="0" smtClean="0"/>
              <a:t>Businesses </a:t>
            </a:r>
          </a:p>
          <a:p>
            <a:r>
              <a:rPr lang="en-US" sz="1800" dirty="0" smtClean="0"/>
              <a:t>Households</a:t>
            </a:r>
          </a:p>
          <a:p>
            <a:r>
              <a:rPr lang="en-US" sz="1800" dirty="0" smtClean="0"/>
              <a:t>Logistics Vendors </a:t>
            </a:r>
          </a:p>
          <a:p>
            <a:pPr>
              <a:buNone/>
            </a:pPr>
            <a:r>
              <a:rPr lang="en-US" sz="1800" dirty="0" smtClean="0"/>
              <a:t>through a managed service network.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2000" b="1" dirty="0" smtClean="0"/>
              <a:t>*  Vision -</a:t>
            </a:r>
          </a:p>
          <a:p>
            <a:r>
              <a:rPr lang="en-US" sz="1800" dirty="0" smtClean="0"/>
              <a:t>To become India's most trusted technology-enabled relocation and logistics ecosystem.</a:t>
            </a:r>
          </a:p>
          <a:p>
            <a:endParaRPr lang="en-US" sz="1800" dirty="0" smtClean="0"/>
          </a:p>
          <a:p>
            <a:pPr>
              <a:buNone/>
            </a:pPr>
            <a:r>
              <a:rPr lang="en-US" sz="2000" b="1" dirty="0" smtClean="0"/>
              <a:t>*  Mission –</a:t>
            </a:r>
          </a:p>
          <a:p>
            <a:r>
              <a:rPr lang="en-US" sz="1800" dirty="0" smtClean="0"/>
              <a:t>Simplify logistics execution through vendor aggregation, process standardization, technology, pricing feasibility, on-time delivery and operational transparency.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IN" sz="1800" dirty="0" smtClean="0"/>
          </a:p>
          <a:p>
            <a:pPr>
              <a:buNone/>
            </a:pPr>
            <a:endParaRPr lang="en-US" sz="1800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About AMPY LOGI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214422"/>
            <a:ext cx="8258204" cy="479286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👉Problems in Current Logistics Ecosystem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*  For Customers</a:t>
            </a:r>
          </a:p>
          <a:p>
            <a:r>
              <a:rPr lang="en-US" sz="2300" dirty="0" smtClean="0"/>
              <a:t>No price transparency </a:t>
            </a:r>
          </a:p>
          <a:p>
            <a:r>
              <a:rPr lang="en-US" sz="2300" dirty="0" smtClean="0"/>
              <a:t>No tracking visibility </a:t>
            </a:r>
          </a:p>
          <a:p>
            <a:r>
              <a:rPr lang="en-US" sz="2300" dirty="0" smtClean="0"/>
              <a:t>Multiple vendor dependency </a:t>
            </a:r>
          </a:p>
          <a:p>
            <a:r>
              <a:rPr lang="en-US" sz="2300" dirty="0" smtClean="0"/>
              <a:t>Poor service quality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*  For Businesses</a:t>
            </a:r>
          </a:p>
          <a:p>
            <a:r>
              <a:rPr lang="en-US" sz="2200" dirty="0" smtClean="0"/>
              <a:t>Vendor management complexity </a:t>
            </a:r>
          </a:p>
          <a:p>
            <a:r>
              <a:rPr lang="en-US" sz="2200" dirty="0" smtClean="0"/>
              <a:t>Lack of accountability </a:t>
            </a:r>
          </a:p>
          <a:p>
            <a:r>
              <a:rPr lang="en-US" sz="2200" dirty="0" smtClean="0"/>
              <a:t>Manual coordination </a:t>
            </a:r>
          </a:p>
          <a:p>
            <a:pPr>
              <a:buNone/>
            </a:pPr>
            <a:endParaRPr lang="en-US" sz="2600" dirty="0" smtClean="0"/>
          </a:p>
          <a:p>
            <a:pPr>
              <a:buNone/>
            </a:pPr>
            <a:r>
              <a:rPr lang="en-US" b="1" dirty="0" smtClean="0"/>
              <a:t>*  For Vendors</a:t>
            </a:r>
          </a:p>
          <a:p>
            <a:r>
              <a:rPr lang="en-US" sz="2200" dirty="0" smtClean="0"/>
              <a:t>Inconsistent order flow </a:t>
            </a:r>
          </a:p>
          <a:p>
            <a:r>
              <a:rPr lang="en-US" sz="2200" dirty="0" smtClean="0"/>
              <a:t>Delayed payments </a:t>
            </a:r>
          </a:p>
          <a:p>
            <a:r>
              <a:rPr lang="en-US" sz="2200" dirty="0" smtClean="0"/>
              <a:t>No technology support </a:t>
            </a:r>
          </a:p>
          <a:p>
            <a:r>
              <a:rPr lang="en-US" sz="2200" dirty="0" smtClean="0"/>
              <a:t>Poor customer acquisition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Industry Problem -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071546"/>
            <a:ext cx="8429684" cy="492922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✅ </a:t>
            </a:r>
            <a:r>
              <a:rPr lang="en-US" b="1" dirty="0" err="1" smtClean="0"/>
              <a:t>Ampy</a:t>
            </a:r>
            <a:r>
              <a:rPr lang="en-US" b="1" dirty="0" smtClean="0"/>
              <a:t> Logi Platform –</a:t>
            </a:r>
          </a:p>
          <a:p>
            <a:pPr>
              <a:buNone/>
            </a:pPr>
            <a:r>
              <a:rPr lang="en-US" dirty="0" smtClean="0"/>
              <a:t>👉A single ecosystem connecting:-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*  B2B</a:t>
            </a:r>
          </a:p>
          <a:p>
            <a:r>
              <a:rPr lang="en-US" dirty="0" smtClean="0"/>
              <a:t>Corporate logistics requirements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*  B2C</a:t>
            </a:r>
          </a:p>
          <a:p>
            <a:r>
              <a:rPr lang="en-US" dirty="0" smtClean="0"/>
              <a:t>Household relocation requirements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*  B2V</a:t>
            </a:r>
          </a:p>
          <a:p>
            <a:r>
              <a:rPr lang="en-US" dirty="0" smtClean="0"/>
              <a:t>Vendor acquisition and order management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*  What We Solve</a:t>
            </a:r>
          </a:p>
          <a:p>
            <a:r>
              <a:rPr lang="en-US" dirty="0" smtClean="0"/>
              <a:t>Discovery </a:t>
            </a:r>
          </a:p>
          <a:p>
            <a:r>
              <a:rPr lang="en-US" dirty="0" smtClean="0"/>
              <a:t>Quotation </a:t>
            </a:r>
          </a:p>
          <a:p>
            <a:r>
              <a:rPr lang="en-US" dirty="0" smtClean="0"/>
              <a:t>Vendor allocation </a:t>
            </a:r>
          </a:p>
          <a:p>
            <a:r>
              <a:rPr lang="en-US" dirty="0" smtClean="0"/>
              <a:t>Tracking </a:t>
            </a:r>
          </a:p>
          <a:p>
            <a:r>
              <a:rPr lang="en-US" dirty="0" smtClean="0"/>
              <a:t>Execution </a:t>
            </a:r>
          </a:p>
          <a:p>
            <a:r>
              <a:rPr lang="en-US" dirty="0" smtClean="0"/>
              <a:t>Support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Our Solution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200" b="1" dirty="0" smtClean="0"/>
              <a:t>👉Revenue Streams-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*  B2B Revenue</a:t>
            </a:r>
          </a:p>
          <a:p>
            <a:r>
              <a:rPr lang="en-US" sz="2600" dirty="0" smtClean="0"/>
              <a:t>Corporate relocation </a:t>
            </a:r>
          </a:p>
          <a:p>
            <a:r>
              <a:rPr lang="en-US" sz="2600" dirty="0" smtClean="0"/>
              <a:t>Employee shifting </a:t>
            </a:r>
          </a:p>
          <a:p>
            <a:r>
              <a:rPr lang="en-US" sz="2600" dirty="0" smtClean="0"/>
              <a:t>Business logistics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*  B2C Revenue</a:t>
            </a:r>
          </a:p>
          <a:p>
            <a:r>
              <a:rPr lang="en-US" sz="2600" dirty="0" smtClean="0"/>
              <a:t>Household moving </a:t>
            </a:r>
          </a:p>
          <a:p>
            <a:r>
              <a:rPr lang="en-US" sz="2600" dirty="0" smtClean="0"/>
              <a:t>Packing services </a:t>
            </a:r>
          </a:p>
          <a:p>
            <a:r>
              <a:rPr lang="en-US" sz="2600" dirty="0" smtClean="0"/>
              <a:t>Transportation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*  B2V Revenue</a:t>
            </a:r>
          </a:p>
          <a:p>
            <a:r>
              <a:rPr lang="en-US" sz="2600" dirty="0" smtClean="0"/>
              <a:t>Vendor </a:t>
            </a:r>
            <a:r>
              <a:rPr lang="en-US" sz="2600" dirty="0" err="1" smtClean="0"/>
              <a:t>onboarding</a:t>
            </a:r>
            <a:r>
              <a:rPr lang="en-US" sz="2600" dirty="0" smtClean="0"/>
              <a:t> </a:t>
            </a:r>
          </a:p>
          <a:p>
            <a:r>
              <a:rPr lang="en-US" sz="2600" dirty="0" smtClean="0"/>
              <a:t>Technology enablement </a:t>
            </a:r>
          </a:p>
          <a:p>
            <a:r>
              <a:rPr lang="en-US" sz="2600" dirty="0" smtClean="0"/>
              <a:t>Lead generation </a:t>
            </a:r>
          </a:p>
          <a:p>
            <a:r>
              <a:rPr lang="en-US" sz="2600" dirty="0" smtClean="0"/>
              <a:t>Future subscription model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Business Model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186766" cy="43051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dirty="0" smtClean="0"/>
              <a:t>* Current Progress-</a:t>
            </a:r>
          </a:p>
          <a:p>
            <a:pPr>
              <a:buNone/>
            </a:pPr>
            <a:r>
              <a:rPr lang="en-US" sz="2200" dirty="0" smtClean="0"/>
              <a:t>👉Mention latest figures:-</a:t>
            </a:r>
          </a:p>
          <a:p>
            <a:r>
              <a:rPr lang="en-US" sz="1800" dirty="0" smtClean="0"/>
              <a:t>Orders completed – 500+ Counting</a:t>
            </a:r>
          </a:p>
          <a:p>
            <a:r>
              <a:rPr lang="en-US" sz="1800" dirty="0" smtClean="0"/>
              <a:t>Orders in progress – 25+ Counting</a:t>
            </a:r>
          </a:p>
          <a:p>
            <a:r>
              <a:rPr lang="en-US" sz="1800" dirty="0" smtClean="0"/>
              <a:t>Vendor network size – 50+ Counting</a:t>
            </a:r>
          </a:p>
          <a:p>
            <a:r>
              <a:rPr lang="en-US" sz="1800" dirty="0" smtClean="0"/>
              <a:t>Cities covered – 7+ Counting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200" b="1" dirty="0" smtClean="0"/>
              <a:t>* Validation Achieved-</a:t>
            </a:r>
          </a:p>
          <a:p>
            <a:r>
              <a:rPr lang="en-US" sz="1800" dirty="0" smtClean="0"/>
              <a:t>Live paying customers – 50+ Counting</a:t>
            </a:r>
          </a:p>
          <a:p>
            <a:r>
              <a:rPr lang="en-US" sz="1800" dirty="0" smtClean="0"/>
              <a:t>Operational execution completed – 500+ Counting</a:t>
            </a:r>
          </a:p>
          <a:p>
            <a:r>
              <a:rPr lang="en-US" sz="1800" dirty="0" smtClean="0"/>
              <a:t>Vendor network activated – 30+ Counting</a:t>
            </a:r>
          </a:p>
          <a:p>
            <a:r>
              <a:rPr lang="en-US" sz="1800" dirty="0" smtClean="0"/>
              <a:t>Repeat inquiries received – 20+ Counting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Current Traction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34" y="1285860"/>
            <a:ext cx="8401080" cy="4590877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100" b="1" dirty="0" smtClean="0"/>
              <a:t>👉B2C Flow –</a:t>
            </a:r>
          </a:p>
          <a:p>
            <a:pPr>
              <a:buNone/>
            </a:pPr>
            <a:endParaRPr lang="en-US" sz="2600" b="1" dirty="0" smtClean="0"/>
          </a:p>
          <a:p>
            <a:r>
              <a:rPr lang="en-US" sz="2600" dirty="0" smtClean="0"/>
              <a:t>Lead Generated</a:t>
            </a:r>
          </a:p>
          <a:p>
            <a:r>
              <a:rPr lang="en-US" sz="2600" dirty="0" smtClean="0"/>
              <a:t>↓</a:t>
            </a:r>
          </a:p>
          <a:p>
            <a:r>
              <a:rPr lang="en-US" sz="2600" dirty="0" smtClean="0"/>
              <a:t>Requirement Collection</a:t>
            </a:r>
          </a:p>
          <a:p>
            <a:r>
              <a:rPr lang="en-US" sz="2600" dirty="0" smtClean="0"/>
              <a:t>↓</a:t>
            </a:r>
          </a:p>
          <a:p>
            <a:r>
              <a:rPr lang="en-US" sz="2600" dirty="0" smtClean="0"/>
              <a:t>Quotation</a:t>
            </a:r>
          </a:p>
          <a:p>
            <a:r>
              <a:rPr lang="en-US" sz="2600" dirty="0" smtClean="0"/>
              <a:t>↓</a:t>
            </a:r>
          </a:p>
          <a:p>
            <a:r>
              <a:rPr lang="en-US" sz="2600" dirty="0" smtClean="0"/>
              <a:t>Vendor Allocation</a:t>
            </a:r>
          </a:p>
          <a:p>
            <a:r>
              <a:rPr lang="en-US" sz="2600" dirty="0" smtClean="0"/>
              <a:t>↓</a:t>
            </a:r>
          </a:p>
          <a:p>
            <a:r>
              <a:rPr lang="en-US" sz="2600" dirty="0" smtClean="0"/>
              <a:t>Execution</a:t>
            </a:r>
          </a:p>
          <a:p>
            <a:r>
              <a:rPr lang="en-US" sz="2600" dirty="0" smtClean="0"/>
              <a:t>↓</a:t>
            </a:r>
          </a:p>
          <a:p>
            <a:r>
              <a:rPr lang="en-US" sz="2600" dirty="0" smtClean="0"/>
              <a:t>Customer Support</a:t>
            </a:r>
          </a:p>
          <a:p>
            <a:r>
              <a:rPr lang="en-US" sz="2600" dirty="0" smtClean="0"/>
              <a:t>↓</a:t>
            </a:r>
          </a:p>
          <a:p>
            <a:r>
              <a:rPr lang="en-US" sz="2600" dirty="0" smtClean="0"/>
              <a:t>Closure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Customer Journey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* Corporate Services -</a:t>
            </a:r>
          </a:p>
          <a:p>
            <a:r>
              <a:rPr lang="en-US" sz="2000" dirty="0" smtClean="0"/>
              <a:t>Employee Relocation </a:t>
            </a:r>
          </a:p>
          <a:p>
            <a:r>
              <a:rPr lang="en-US" sz="2000" dirty="0" smtClean="0"/>
              <a:t>Office Relocation </a:t>
            </a:r>
          </a:p>
          <a:p>
            <a:r>
              <a:rPr lang="en-US" sz="2000" dirty="0" smtClean="0"/>
              <a:t>Logistics Coordination </a:t>
            </a:r>
          </a:p>
          <a:p>
            <a:r>
              <a:rPr lang="en-US" sz="2000" dirty="0" smtClean="0"/>
              <a:t>Vendor Management </a:t>
            </a:r>
          </a:p>
          <a:p>
            <a:r>
              <a:rPr lang="en-US" sz="2000" dirty="0" smtClean="0"/>
              <a:t>Documentation Support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pPr>
              <a:buNone/>
            </a:pPr>
            <a:r>
              <a:rPr lang="en-US" b="1" dirty="0" smtClean="0"/>
              <a:t>* Value Proposition -</a:t>
            </a:r>
          </a:p>
          <a:p>
            <a:r>
              <a:rPr lang="en-US" sz="2000" dirty="0" smtClean="0"/>
              <a:t>Single point accountability.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B2B Services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928670"/>
            <a:ext cx="8215370" cy="5072098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5500" b="1" dirty="0" smtClean="0"/>
              <a:t>👉Industries Currently Served</a:t>
            </a:r>
          </a:p>
          <a:p>
            <a:pPr>
              <a:buNone/>
            </a:pPr>
            <a:r>
              <a:rPr lang="en-US" sz="4300" dirty="0" smtClean="0"/>
              <a:t>✅ Household Relocation &amp; Packers Movers</a:t>
            </a:r>
          </a:p>
          <a:p>
            <a:pPr>
              <a:buNone/>
            </a:pPr>
            <a:r>
              <a:rPr lang="en-US" sz="4300" dirty="0" smtClean="0"/>
              <a:t>✅ Electronics &amp; Appliance Movement</a:t>
            </a:r>
          </a:p>
          <a:p>
            <a:pPr>
              <a:buNone/>
            </a:pPr>
            <a:r>
              <a:rPr lang="en-US" sz="4300" dirty="0" smtClean="0"/>
              <a:t>✅ FMCG Distribution</a:t>
            </a:r>
          </a:p>
          <a:p>
            <a:pPr>
              <a:buNone/>
            </a:pPr>
            <a:r>
              <a:rPr lang="en-US" sz="4300" dirty="0" smtClean="0"/>
              <a:t>✅ Construction &amp; Building Materials</a:t>
            </a:r>
          </a:p>
          <a:p>
            <a:pPr>
              <a:buNone/>
            </a:pPr>
            <a:r>
              <a:rPr lang="en-US" sz="4300" dirty="0" smtClean="0"/>
              <a:t>✅ Textile &amp; Apparel Logistics</a:t>
            </a:r>
          </a:p>
          <a:p>
            <a:pPr>
              <a:buNone/>
            </a:pPr>
            <a:r>
              <a:rPr lang="en-US" sz="4300" dirty="0" smtClean="0"/>
              <a:t>✅ E-commerce &amp; D2C Deliveries</a:t>
            </a:r>
          </a:p>
          <a:p>
            <a:pPr>
              <a:buNone/>
            </a:pPr>
            <a:r>
              <a:rPr lang="en-US" sz="4300" dirty="0" smtClean="0"/>
              <a:t>✅ </a:t>
            </a:r>
            <a:r>
              <a:rPr lang="en-US" sz="4300" dirty="0" err="1" smtClean="0"/>
              <a:t>Pharma</a:t>
            </a:r>
            <a:r>
              <a:rPr lang="en-US" sz="4300" dirty="0" smtClean="0"/>
              <a:t> &amp; Medical Supplies</a:t>
            </a:r>
          </a:p>
          <a:p>
            <a:pPr>
              <a:buNone/>
            </a:pPr>
            <a:r>
              <a:rPr lang="en-US" sz="4300" dirty="0" smtClean="0"/>
              <a:t>✅ Batteries, Solar Panels, Inverters &amp; Energy Equipment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5500" b="1" dirty="0" smtClean="0"/>
              <a:t>👉Industries Being Expanded</a:t>
            </a:r>
          </a:p>
          <a:p>
            <a:pPr>
              <a:buNone/>
            </a:pPr>
            <a:r>
              <a:rPr lang="en-US" sz="4400" dirty="0" smtClean="0"/>
              <a:t>🔹 Corporate &amp; Office Relocation</a:t>
            </a:r>
          </a:p>
          <a:p>
            <a:pPr>
              <a:buNone/>
            </a:pPr>
            <a:r>
              <a:rPr lang="en-US" sz="4400" dirty="0" smtClean="0"/>
              <a:t>🔹 MSME &amp; Manufacturing Goods</a:t>
            </a:r>
          </a:p>
          <a:p>
            <a:pPr>
              <a:buNone/>
            </a:pPr>
            <a:r>
              <a:rPr lang="en-US" sz="4400" dirty="0" smtClean="0"/>
              <a:t>🔹 Spare Parts &amp; Auto Components</a:t>
            </a:r>
          </a:p>
          <a:p>
            <a:pPr>
              <a:buNone/>
            </a:pPr>
            <a:r>
              <a:rPr lang="en-US" sz="4400" dirty="0" smtClean="0"/>
              <a:t>🔹 Agricultural Supplies</a:t>
            </a:r>
          </a:p>
          <a:p>
            <a:pPr>
              <a:buNone/>
            </a:pPr>
            <a:r>
              <a:rPr lang="en-US" sz="4400" dirty="0" smtClean="0"/>
              <a:t>🔹 Cold Chain &amp; Perishables</a:t>
            </a:r>
          </a:p>
          <a:p>
            <a:pPr>
              <a:buNone/>
            </a:pPr>
            <a:r>
              <a:rPr lang="en-US" sz="4400" dirty="0" smtClean="0"/>
              <a:t>🔹 Event &amp; Exhibition Logistics</a:t>
            </a:r>
          </a:p>
          <a:p>
            <a:pPr>
              <a:buNone/>
            </a:pPr>
            <a:r>
              <a:rPr lang="en-US" sz="4400" dirty="0" smtClean="0"/>
              <a:t>🔹 Documents &amp; Light Courier Services</a:t>
            </a:r>
          </a:p>
          <a:p>
            <a:pPr>
              <a:buNone/>
            </a:pPr>
            <a:r>
              <a:rPr lang="en-US" sz="4400" dirty="0" smtClean="0"/>
              <a:t>🔹 Nursery Shipments</a:t>
            </a:r>
          </a:p>
          <a:p>
            <a:pPr>
              <a:buNone/>
            </a:pPr>
            <a:r>
              <a:rPr lang="en-US" sz="4400" dirty="0" smtClean="0"/>
              <a:t>🔹 Gym &amp; Fitness Equipment</a:t>
            </a:r>
          </a:p>
          <a:p>
            <a:pPr>
              <a:buNone/>
            </a:pPr>
            <a:r>
              <a:rPr lang="en-US" sz="4400" dirty="0" smtClean="0"/>
              <a:t>🔹 Cloud Kitchen Supplies</a:t>
            </a:r>
          </a:p>
          <a:p>
            <a:pPr>
              <a:buNone/>
            </a:pPr>
            <a:r>
              <a:rPr lang="en-US" sz="4400" dirty="0" smtClean="0"/>
              <a:t>🔹 Salon &amp; Spa Equipment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/>
          </a:bodyPr>
          <a:lstStyle/>
          <a:p>
            <a:r>
              <a:rPr lang="en-IN" sz="3600" dirty="0" smtClean="0"/>
              <a:t>B2B Services – Sub Categories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4429124" y="3071810"/>
            <a:ext cx="4572000" cy="307776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b="1" dirty="0" smtClean="0"/>
              <a:t>👉Long-Term Opportunity Segments</a:t>
            </a:r>
          </a:p>
          <a:p>
            <a:r>
              <a:rPr lang="en-US" sz="1400" dirty="0" smtClean="0"/>
              <a:t>🔸 Alcoholic Beverages Logistics</a:t>
            </a:r>
          </a:p>
          <a:p>
            <a:r>
              <a:rPr lang="en-US" sz="1400" dirty="0" smtClean="0"/>
              <a:t>🔸 Defense Equipment Logistics</a:t>
            </a:r>
          </a:p>
          <a:p>
            <a:r>
              <a:rPr lang="en-US" sz="1400" dirty="0" smtClean="0"/>
              <a:t>🔸 Hazardous Goods &amp; Special Cargo</a:t>
            </a:r>
          </a:p>
          <a:p>
            <a:r>
              <a:rPr lang="en-US" sz="1400" dirty="0" smtClean="0"/>
              <a:t>🔸 Industrial Chemicals</a:t>
            </a:r>
          </a:p>
          <a:p>
            <a:r>
              <a:rPr lang="en-US" sz="1400" dirty="0" smtClean="0"/>
              <a:t>🔸 Utility &amp; Service Equipment Transportation</a:t>
            </a:r>
          </a:p>
          <a:p>
            <a:endParaRPr lang="en-IN" sz="1400" dirty="0" smtClean="0"/>
          </a:p>
          <a:p>
            <a:r>
              <a:rPr lang="en-US" b="1" dirty="0" smtClean="0"/>
              <a:t>👉Order Booking </a:t>
            </a:r>
            <a:r>
              <a:rPr lang="en-US" sz="1400" b="1" dirty="0" smtClean="0"/>
              <a:t>- </a:t>
            </a:r>
            <a:r>
              <a:rPr lang="en-US" sz="1400" dirty="0" smtClean="0"/>
              <a:t>Businesses can initiate a service request directly through: -</a:t>
            </a:r>
          </a:p>
          <a:p>
            <a:endParaRPr lang="en-US" sz="1400" dirty="0" smtClean="0"/>
          </a:p>
          <a:p>
            <a:r>
              <a:rPr lang="en-US" sz="1600" dirty="0" smtClean="0"/>
              <a:t>🔗</a:t>
            </a:r>
            <a:r>
              <a:rPr lang="en-US" sz="1400" dirty="0" smtClean="0"/>
              <a:t>Order Inquiry Form  - (https://forms.gle/yUbdNtFyVDPhoYuD9)</a:t>
            </a:r>
          </a:p>
          <a:p>
            <a:endParaRPr lang="en-US" sz="1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b="1" dirty="0" smtClean="0"/>
              <a:t>* Household Services -</a:t>
            </a:r>
          </a:p>
          <a:p>
            <a:r>
              <a:rPr lang="en-US" sz="2000" dirty="0" smtClean="0"/>
              <a:t>Local Shifting </a:t>
            </a:r>
          </a:p>
          <a:p>
            <a:r>
              <a:rPr lang="en-US" sz="2000" dirty="0" smtClean="0"/>
              <a:t>Intercity Relocation </a:t>
            </a:r>
          </a:p>
          <a:p>
            <a:r>
              <a:rPr lang="en-US" sz="2000" dirty="0" smtClean="0"/>
              <a:t>Packing Services </a:t>
            </a:r>
          </a:p>
          <a:p>
            <a:r>
              <a:rPr lang="en-US" sz="2000" dirty="0" smtClean="0"/>
              <a:t>Loading &amp; Unloading </a:t>
            </a:r>
          </a:p>
          <a:p>
            <a:r>
              <a:rPr lang="en-US" sz="2000" dirty="0" smtClean="0"/>
              <a:t>Vehicle Transportation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b="1" dirty="0" smtClean="0"/>
              <a:t>* Benefits -</a:t>
            </a:r>
          </a:p>
          <a:p>
            <a:r>
              <a:rPr lang="en-US" sz="2000" dirty="0" smtClean="0"/>
              <a:t>Verified Vendors </a:t>
            </a:r>
          </a:p>
          <a:p>
            <a:r>
              <a:rPr lang="en-US" sz="2000" dirty="0" smtClean="0"/>
              <a:t>Transparent Pricing </a:t>
            </a:r>
          </a:p>
          <a:p>
            <a:r>
              <a:rPr lang="en-US" sz="2000" dirty="0" smtClean="0"/>
              <a:t>Managed Execution </a:t>
            </a:r>
          </a:p>
          <a:p>
            <a:endParaRPr lang="en-IN" sz="2000" dirty="0" smtClean="0"/>
          </a:p>
          <a:p>
            <a:pPr>
              <a:buNone/>
            </a:pPr>
            <a:r>
              <a:rPr lang="en-US" sz="2000" b="1" dirty="0" smtClean="0"/>
              <a:t>👉Order Booking - </a:t>
            </a:r>
            <a:r>
              <a:rPr lang="en-US" sz="2000" dirty="0" smtClean="0"/>
              <a:t>Customers can initiate a service request directly  through: -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🔗</a:t>
            </a:r>
            <a:r>
              <a:rPr lang="en-US" sz="2000" b="1" dirty="0" smtClean="0"/>
              <a:t>Order Inquiry Form </a:t>
            </a:r>
            <a:r>
              <a:rPr lang="en-US" sz="2000" dirty="0" smtClean="0"/>
              <a:t>- </a:t>
            </a:r>
            <a:r>
              <a:rPr lang="en-US" sz="1800" dirty="0" smtClean="0"/>
              <a:t>🔗</a:t>
            </a:r>
            <a:r>
              <a:rPr lang="en-US" sz="2000" dirty="0" smtClean="0"/>
              <a:t>(https://forms.gle/yUbdNtFyVDPhoYuD9)</a:t>
            </a:r>
          </a:p>
          <a:p>
            <a:endParaRPr lang="en-US" sz="2000" dirty="0" smtClean="0"/>
          </a:p>
          <a:p>
            <a:endParaRPr lang="en-IN" sz="2000" dirty="0" smtClean="0"/>
          </a:p>
          <a:p>
            <a:endParaRPr lang="en-US" sz="2000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B2C Services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214422"/>
            <a:ext cx="8258204" cy="4792869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/>
              <a:t>👉Vendor Network Program -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*  For Packers &amp; Movers -</a:t>
            </a:r>
          </a:p>
          <a:p>
            <a:r>
              <a:rPr lang="en-US" dirty="0" smtClean="0"/>
              <a:t>New Orders </a:t>
            </a:r>
          </a:p>
          <a:p>
            <a:r>
              <a:rPr lang="en-US" dirty="0" smtClean="0"/>
              <a:t>Business Growth </a:t>
            </a:r>
          </a:p>
          <a:p>
            <a:r>
              <a:rPr lang="en-US" dirty="0" smtClean="0"/>
              <a:t>Technology Support 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*  For Drivers -</a:t>
            </a:r>
          </a:p>
          <a:p>
            <a:r>
              <a:rPr lang="en-US" dirty="0" smtClean="0"/>
              <a:t>Consistent Trips </a:t>
            </a:r>
          </a:p>
          <a:p>
            <a:r>
              <a:rPr lang="en-US" dirty="0" smtClean="0"/>
              <a:t>Better Utilization 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*  For Small Logistics Operators -</a:t>
            </a:r>
          </a:p>
          <a:p>
            <a:r>
              <a:rPr lang="en-US" dirty="0" smtClean="0"/>
              <a:t>Access to Customers </a:t>
            </a:r>
          </a:p>
          <a:p>
            <a:r>
              <a:rPr lang="en-US" dirty="0" smtClean="0"/>
              <a:t>Operational Support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*  Future Vision -</a:t>
            </a:r>
          </a:p>
          <a:p>
            <a:r>
              <a:rPr lang="en-US" dirty="0" smtClean="0"/>
              <a:t>Become India's largest vendor aggregation platform for relocation services.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👉Vendor Registration - </a:t>
            </a:r>
            <a:r>
              <a:rPr lang="en-US" dirty="0" smtClean="0"/>
              <a:t>Interested logistics partners/ vendors can join </a:t>
            </a:r>
            <a:r>
              <a:rPr lang="en-US" dirty="0" err="1" smtClean="0"/>
              <a:t>Ampy</a:t>
            </a:r>
            <a:r>
              <a:rPr lang="en-US" dirty="0" smtClean="0"/>
              <a:t> Logi through our vendor </a:t>
            </a:r>
            <a:r>
              <a:rPr lang="en-US" dirty="0" err="1" smtClean="0"/>
              <a:t>onboarding</a:t>
            </a:r>
            <a:r>
              <a:rPr lang="en-US" dirty="0" smtClean="0"/>
              <a:t> process.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🔗 </a:t>
            </a:r>
            <a:r>
              <a:rPr lang="en-US" b="1" dirty="0" smtClean="0"/>
              <a:t>Vendor </a:t>
            </a:r>
            <a:r>
              <a:rPr lang="en-US" b="1" dirty="0" err="1" smtClean="0"/>
              <a:t>Onboarding</a:t>
            </a:r>
            <a:r>
              <a:rPr lang="en-US" b="1" dirty="0" smtClean="0"/>
              <a:t> Form </a:t>
            </a:r>
            <a:r>
              <a:rPr lang="en-US" dirty="0" smtClean="0"/>
              <a:t>🔗[https://forms.gle/Hn2rFfxPJscEMqFbA]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B2V Services 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👉</a:t>
            </a:r>
            <a:r>
              <a:rPr lang="en-US" sz="3400" b="1" dirty="0" smtClean="0"/>
              <a:t>Order Lifecycle -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dirty="0" smtClean="0"/>
              <a:t>Lead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Verification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Quotation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Vendor Selection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Execution Monitoring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Issue Resolution</a:t>
            </a:r>
          </a:p>
          <a:p>
            <a:r>
              <a:rPr lang="en-US" dirty="0" smtClean="0"/>
              <a:t>↓</a:t>
            </a:r>
          </a:p>
          <a:p>
            <a:r>
              <a:rPr lang="en-US" dirty="0" smtClean="0"/>
              <a:t>Completion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Operational Process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* Vendor Ecosystem -</a:t>
            </a:r>
          </a:p>
          <a:p>
            <a:r>
              <a:rPr lang="en-US" sz="2000" dirty="0" smtClean="0"/>
              <a:t>Current Categories:</a:t>
            </a:r>
          </a:p>
          <a:p>
            <a:r>
              <a:rPr lang="en-US" sz="2000" dirty="0" smtClean="0"/>
              <a:t>Packers &amp; Movers </a:t>
            </a:r>
          </a:p>
          <a:p>
            <a:r>
              <a:rPr lang="en-US" sz="2000" dirty="0" smtClean="0"/>
              <a:t>Transporters </a:t>
            </a:r>
          </a:p>
          <a:p>
            <a:r>
              <a:rPr lang="en-US" sz="2000" dirty="0" smtClean="0"/>
              <a:t>Drivers </a:t>
            </a:r>
          </a:p>
          <a:p>
            <a:r>
              <a:rPr lang="en-US" sz="2000" dirty="0" err="1" smtClean="0"/>
              <a:t>Labour</a:t>
            </a:r>
            <a:r>
              <a:rPr lang="en-US" sz="2000" dirty="0" smtClean="0"/>
              <a:t> Partners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b="1" dirty="0" smtClean="0"/>
              <a:t>* Selection Criteria -</a:t>
            </a:r>
          </a:p>
          <a:p>
            <a:r>
              <a:rPr lang="en-US" sz="2000" dirty="0" smtClean="0"/>
              <a:t>Verification </a:t>
            </a:r>
          </a:p>
          <a:p>
            <a:r>
              <a:rPr lang="en-US" sz="2000" dirty="0" smtClean="0"/>
              <a:t>Experience </a:t>
            </a:r>
          </a:p>
          <a:p>
            <a:r>
              <a:rPr lang="en-US" sz="2000" dirty="0" smtClean="0"/>
              <a:t>Service Quality </a:t>
            </a:r>
          </a:p>
          <a:p>
            <a:r>
              <a:rPr lang="en-US" sz="2000" dirty="0" smtClean="0"/>
              <a:t>Reliability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en-US" sz="3600" dirty="0" smtClean="0"/>
              <a:t>Vendor Network Strength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1472" y="642918"/>
            <a:ext cx="8358246" cy="5000684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👉</a:t>
            </a:r>
            <a:r>
              <a:rPr lang="en-US" sz="1600" dirty="0" err="1" smtClean="0"/>
              <a:t>Ampy</a:t>
            </a:r>
            <a:r>
              <a:rPr lang="en-US" sz="1600" dirty="0" smtClean="0"/>
              <a:t> Logi has supported movement and distribution activities involving:-</a:t>
            </a:r>
          </a:p>
          <a:p>
            <a:r>
              <a:rPr lang="en-US" sz="1400" dirty="0" smtClean="0"/>
              <a:t>Branded Merchandise </a:t>
            </a:r>
          </a:p>
          <a:p>
            <a:r>
              <a:rPr lang="en-US" sz="1400" dirty="0" smtClean="0"/>
              <a:t>Promotional Products </a:t>
            </a:r>
          </a:p>
          <a:p>
            <a:r>
              <a:rPr lang="en-US" sz="1400" dirty="0" smtClean="0"/>
              <a:t>Customer Deliveries </a:t>
            </a:r>
          </a:p>
          <a:p>
            <a:r>
              <a:rPr lang="en-US" sz="1400" dirty="0" smtClean="0"/>
              <a:t>Packaging Support </a:t>
            </a:r>
          </a:p>
          <a:p>
            <a:r>
              <a:rPr lang="en-US" sz="1400" dirty="0" smtClean="0"/>
              <a:t>D2C Product Dispatches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214290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Merchandise/D2C Execution </a:t>
            </a:r>
            <a:r>
              <a:rPr lang="en-US" sz="3600" dirty="0" smtClean="0"/>
              <a:t>Slide</a:t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5" name="Picture 2" descr="C:\Users\SATYA RANJAN PATNAIK\Pictures\Screenshots\Screenshot 2026-06-06 12225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72198" y="1357298"/>
            <a:ext cx="2514471" cy="2152124"/>
          </a:xfrm>
          <a:prstGeom prst="rect">
            <a:avLst/>
          </a:prstGeom>
          <a:noFill/>
        </p:spPr>
      </p:pic>
      <p:pic>
        <p:nvPicPr>
          <p:cNvPr id="6" name="Picture 3" descr="C:\Users\SATYA RANJAN PATNAIK\Pictures\Screenshots\Screenshot 2026-06-06 12232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72198" y="3643314"/>
            <a:ext cx="2786082" cy="2934806"/>
          </a:xfrm>
          <a:prstGeom prst="rect">
            <a:avLst/>
          </a:prstGeom>
          <a:noFill/>
        </p:spPr>
      </p:pic>
      <p:pic>
        <p:nvPicPr>
          <p:cNvPr id="1027" name="Picture 3" descr="C:\Users\SATYA RANJAN PATNAIK\Pictures\Screenshots\Screenshot 2026-06-06 122618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2643182"/>
            <a:ext cx="2000264" cy="3624240"/>
          </a:xfrm>
          <a:prstGeom prst="rect">
            <a:avLst/>
          </a:prstGeom>
          <a:noFill/>
        </p:spPr>
      </p:pic>
      <p:pic>
        <p:nvPicPr>
          <p:cNvPr id="1028" name="Picture 4" descr="C:\Users\SATYA RANJAN PATNAIK\Pictures\Screenshots\Screenshot 2026-06-06 122833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00430" y="1368642"/>
            <a:ext cx="2145967" cy="2560424"/>
          </a:xfrm>
          <a:prstGeom prst="rect">
            <a:avLst/>
          </a:prstGeom>
          <a:noFill/>
        </p:spPr>
      </p:pic>
      <p:pic>
        <p:nvPicPr>
          <p:cNvPr id="1029" name="Picture 5" descr="C:\Users\SATYA RANJAN PATNAIK\Pictures\Screenshots\Screenshot 2026-06-06 122900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071802" y="4071942"/>
            <a:ext cx="2571768" cy="230841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142984"/>
            <a:ext cx="8258204" cy="4935745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200" b="1" dirty="0" smtClean="0"/>
              <a:t>* Current -</a:t>
            </a:r>
          </a:p>
          <a:p>
            <a:r>
              <a:rPr lang="en-US" dirty="0" smtClean="0"/>
              <a:t>Google Forms </a:t>
            </a:r>
          </a:p>
          <a:p>
            <a:r>
              <a:rPr lang="en-US" dirty="0" smtClean="0"/>
              <a:t>Dashboards </a:t>
            </a:r>
          </a:p>
          <a:p>
            <a:r>
              <a:rPr lang="en-US" dirty="0" smtClean="0"/>
              <a:t>Order Trackers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3200" b="1" dirty="0" smtClean="0"/>
              <a:t>* Phase 2 -</a:t>
            </a:r>
          </a:p>
          <a:p>
            <a:r>
              <a:rPr lang="en-US" dirty="0" smtClean="0"/>
              <a:t>Website </a:t>
            </a:r>
          </a:p>
          <a:p>
            <a:r>
              <a:rPr lang="en-US" dirty="0" smtClean="0"/>
              <a:t>CRM </a:t>
            </a:r>
          </a:p>
          <a:p>
            <a:r>
              <a:rPr lang="en-US" dirty="0" smtClean="0"/>
              <a:t>Lead Management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3200" b="1" dirty="0" smtClean="0"/>
              <a:t>* Phase 3 -</a:t>
            </a:r>
          </a:p>
          <a:p>
            <a:r>
              <a:rPr lang="en-US" dirty="0" smtClean="0"/>
              <a:t>Vendor Portal </a:t>
            </a:r>
          </a:p>
          <a:p>
            <a:r>
              <a:rPr lang="en-US" dirty="0" smtClean="0"/>
              <a:t>Customer Dashboard </a:t>
            </a:r>
          </a:p>
          <a:p>
            <a:r>
              <a:rPr lang="en-US" dirty="0" smtClean="0"/>
              <a:t>Real-Time Tracking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3200" b="1" dirty="0" smtClean="0"/>
              <a:t>* Phase 4 -</a:t>
            </a:r>
          </a:p>
          <a:p>
            <a:r>
              <a:rPr lang="en-US" dirty="0" smtClean="0"/>
              <a:t>Mobile Application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Technology Roadmap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186766" cy="40908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👉Differentiators</a:t>
            </a:r>
          </a:p>
          <a:p>
            <a:pPr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400" dirty="0" smtClean="0"/>
              <a:t>✅ B2B + B2C + B2V</a:t>
            </a:r>
          </a:p>
          <a:p>
            <a:pPr>
              <a:buNone/>
            </a:pPr>
            <a:r>
              <a:rPr lang="en-US" sz="2400" dirty="0" smtClean="0"/>
              <a:t>✅ Asset-Light Model</a:t>
            </a:r>
          </a:p>
          <a:p>
            <a:pPr>
              <a:buNone/>
            </a:pPr>
            <a:r>
              <a:rPr lang="en-US" sz="2400" dirty="0" smtClean="0"/>
              <a:t>✅ Vendor Network Driven</a:t>
            </a:r>
          </a:p>
          <a:p>
            <a:pPr>
              <a:buNone/>
            </a:pPr>
            <a:r>
              <a:rPr lang="en-US" sz="2400" dirty="0" smtClean="0"/>
              <a:t>✅ Technology Focused</a:t>
            </a:r>
          </a:p>
          <a:p>
            <a:pPr>
              <a:buNone/>
            </a:pPr>
            <a:r>
              <a:rPr lang="en-US" sz="2400" dirty="0" smtClean="0"/>
              <a:t>✅ Scalable Operations</a:t>
            </a:r>
          </a:p>
          <a:p>
            <a:pPr>
              <a:buNone/>
            </a:pPr>
            <a:r>
              <a:rPr lang="en-US" sz="2400" dirty="0" smtClean="0"/>
              <a:t>✅ PAN-India Expansion Potential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1472" y="714356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Why </a:t>
            </a:r>
            <a:r>
              <a:rPr lang="en-US" sz="4000" dirty="0" err="1" smtClean="0"/>
              <a:t>Ampy</a:t>
            </a:r>
            <a:r>
              <a:rPr lang="en-US" sz="4000" dirty="0" smtClean="0"/>
              <a:t> Logi ?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👉</a:t>
            </a:r>
            <a:r>
              <a:rPr lang="en-US" sz="2400" b="1" dirty="0" smtClean="0"/>
              <a:t>India Relocation Market –</a:t>
            </a:r>
          </a:p>
          <a:p>
            <a:pPr>
              <a:buNone/>
            </a:pPr>
            <a:r>
              <a:rPr lang="en-US" dirty="0" smtClean="0"/>
              <a:t>* </a:t>
            </a:r>
            <a:r>
              <a:rPr lang="en-US" sz="2000" dirty="0" smtClean="0"/>
              <a:t>Large fragmented industry with: -</a:t>
            </a:r>
          </a:p>
          <a:p>
            <a:r>
              <a:rPr lang="en-US" sz="2000" dirty="0" smtClean="0"/>
              <a:t>Thousands of vendors </a:t>
            </a:r>
          </a:p>
          <a:p>
            <a:r>
              <a:rPr lang="en-US" sz="2000" dirty="0" smtClean="0"/>
              <a:t>Low digitization </a:t>
            </a:r>
          </a:p>
          <a:p>
            <a:r>
              <a:rPr lang="en-US" sz="2000" dirty="0" smtClean="0"/>
              <a:t>Poor standardization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400" b="1" dirty="0" smtClean="0"/>
              <a:t>* Opportunity -</a:t>
            </a:r>
          </a:p>
          <a:p>
            <a:r>
              <a:rPr lang="en-US" sz="2000" dirty="0" smtClean="0"/>
              <a:t>To Create a trusted logistics operating layer.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Market Opportunity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214422"/>
            <a:ext cx="8258204" cy="4792869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/>
              <a:t>👉What Our Customers Say -</a:t>
            </a:r>
          </a:p>
          <a:p>
            <a:r>
              <a:rPr lang="en-US" sz="1800" dirty="0" smtClean="0"/>
              <a:t>Over the past executions, customers have appreciated:</a:t>
            </a:r>
          </a:p>
          <a:p>
            <a:pPr>
              <a:buNone/>
            </a:pPr>
            <a:r>
              <a:rPr lang="en-US" sz="1600" dirty="0" smtClean="0"/>
              <a:t>✅ Timely Delivery</a:t>
            </a:r>
          </a:p>
          <a:p>
            <a:pPr>
              <a:buNone/>
            </a:pPr>
            <a:r>
              <a:rPr lang="en-US" sz="1600" dirty="0" smtClean="0"/>
              <a:t>✅ Transparent Communication</a:t>
            </a:r>
          </a:p>
          <a:p>
            <a:pPr>
              <a:buNone/>
            </a:pPr>
            <a:r>
              <a:rPr lang="en-US" sz="1600" dirty="0" smtClean="0"/>
              <a:t>✅ Reliable Vendor Coordination</a:t>
            </a:r>
          </a:p>
          <a:p>
            <a:pPr>
              <a:buNone/>
            </a:pPr>
            <a:r>
              <a:rPr lang="en-US" sz="1600" dirty="0" smtClean="0"/>
              <a:t>✅ Safe Handling of Goods</a:t>
            </a:r>
          </a:p>
          <a:p>
            <a:pPr>
              <a:buNone/>
            </a:pPr>
            <a:r>
              <a:rPr lang="en-US" sz="1600" dirty="0" smtClean="0"/>
              <a:t>✅ Smooth End-to-End Execution</a:t>
            </a:r>
          </a:p>
          <a:p>
            <a:pPr>
              <a:buNone/>
            </a:pPr>
            <a:endParaRPr lang="en-IN" sz="16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Customer Validation &amp; Live Testimonials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500034" y="3357563"/>
            <a:ext cx="8286808" cy="3959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👉Live Customer Feedback 1 – FMCG Category</a:t>
            </a:r>
          </a:p>
          <a:p>
            <a:r>
              <a:rPr lang="en-US" sz="1000" dirty="0" smtClean="0"/>
              <a:t>(</a:t>
            </a:r>
            <a:r>
              <a:rPr lang="en-US" sz="1000" dirty="0" smtClean="0">
                <a:hlinkClick r:id="rId2"/>
              </a:rPr>
              <a:t>https://www.linkedin.com/posts/satya-ranjan-patnaik-725477134_learningandexecution-fmcg-supplychain-activity-7452200173717594112--NHq?utm_source=share&amp;utm_medium=member_android&amp;rcm=ACoAACDRGk0BNWsJm1CeeKZylv0vvLohLr77TMU</a:t>
            </a:r>
            <a:r>
              <a:rPr lang="en-US" sz="1000" dirty="0" smtClean="0"/>
              <a:t>)</a:t>
            </a:r>
          </a:p>
          <a:p>
            <a:endParaRPr lang="en-US" sz="1000" dirty="0" smtClean="0"/>
          </a:p>
          <a:p>
            <a:r>
              <a:rPr lang="en-US" b="1" dirty="0" smtClean="0"/>
              <a:t>👉Live Customer Feedback 2– MANUFACTURING Category</a:t>
            </a:r>
          </a:p>
          <a:p>
            <a:r>
              <a:rPr lang="en-US" sz="1000" dirty="0" smtClean="0"/>
              <a:t>(</a:t>
            </a:r>
            <a:r>
              <a:rPr lang="en-US" sz="1000" dirty="0" smtClean="0">
                <a:hlinkClick r:id="rId3"/>
              </a:rPr>
              <a:t>https://www.linkedin.com/posts/satya-ranjan-patnaik-725477134_learningandexecution-manufacturinglogistics-activity-7452593949778808832--qiQ?utm_source=share&amp;utm_medium=member_android&amp;rcm=ACoAACDRGk0BNWsJm1CeeKZylv0vvLohLr77TMU</a:t>
            </a:r>
            <a:r>
              <a:rPr lang="en-US" sz="1000" dirty="0" smtClean="0"/>
              <a:t>)</a:t>
            </a:r>
          </a:p>
          <a:p>
            <a:endParaRPr lang="en-US" sz="1000" dirty="0" smtClean="0"/>
          </a:p>
          <a:p>
            <a:r>
              <a:rPr lang="en-US" b="1" dirty="0" smtClean="0"/>
              <a:t>👉Live Customer Feedback 2– PACKERS &amp; MOVERS Category</a:t>
            </a:r>
          </a:p>
          <a:p>
            <a:r>
              <a:rPr lang="en-US" sz="1000" dirty="0" smtClean="0"/>
              <a:t>(</a:t>
            </a:r>
            <a:r>
              <a:rPr lang="en-US" sz="1000" dirty="0" smtClean="0">
                <a:hlinkClick r:id="rId4"/>
              </a:rPr>
              <a:t>https://www.linkedin.com/posts/satya-ranjan-patnaik-725477134_learningandexecution-logistics-supplychain-activity-7453034569470988288-A1f5?utm_source=share&amp;utm_medium=member_android&amp;rcm=ACoAACDRGk0BNWsJm1CeeKZylv0vvLohLr77TMU</a:t>
            </a:r>
            <a:r>
              <a:rPr lang="en-US" sz="1000" dirty="0" smtClean="0"/>
              <a:t>)</a:t>
            </a:r>
          </a:p>
          <a:p>
            <a:endParaRPr lang="en-US" sz="1000" dirty="0" smtClean="0"/>
          </a:p>
          <a:p>
            <a:endParaRPr lang="en-US" sz="1000" dirty="0" smtClean="0"/>
          </a:p>
          <a:p>
            <a:endParaRPr lang="en-US" sz="1000" dirty="0" smtClean="0"/>
          </a:p>
          <a:p>
            <a:endParaRPr lang="en-US" sz="1000" dirty="0" smtClean="0"/>
          </a:p>
          <a:p>
            <a:endParaRPr lang="en-US" sz="1000" dirty="0" smtClean="0"/>
          </a:p>
          <a:p>
            <a:endParaRPr lang="en-IN" sz="10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2844" y="642918"/>
            <a:ext cx="8715436" cy="528641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1600" dirty="0" smtClean="0"/>
          </a:p>
          <a:p>
            <a:r>
              <a:rPr lang="en-US" sz="2600" b="1" dirty="0" smtClean="0"/>
              <a:t>Q1) </a:t>
            </a:r>
            <a:r>
              <a:rPr lang="en-US" sz="2600" dirty="0" smtClean="0"/>
              <a:t>How are logistics charges calculated?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Based on distance, vehicle type, manpower requirement, packaging requirement, and nature of goods.</a:t>
            </a:r>
          </a:p>
          <a:p>
            <a:pPr>
              <a:buNone/>
            </a:pPr>
            <a:endParaRPr lang="en-US" sz="2600" dirty="0" smtClean="0"/>
          </a:p>
          <a:p>
            <a:r>
              <a:rPr lang="en-US" sz="2600" b="1" dirty="0" smtClean="0"/>
              <a:t>Q2) </a:t>
            </a:r>
            <a:r>
              <a:rPr lang="en-US" sz="2600" dirty="0" smtClean="0"/>
              <a:t>Are vendors verified before </a:t>
            </a:r>
            <a:r>
              <a:rPr lang="en-US" sz="2600" dirty="0" err="1" smtClean="0"/>
              <a:t>onboarding</a:t>
            </a:r>
            <a:r>
              <a:rPr lang="en-US" sz="2600" dirty="0" smtClean="0"/>
              <a:t>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Yes. Vendors undergo a screening and </a:t>
            </a:r>
            <a:r>
              <a:rPr lang="en-US" sz="2600" dirty="0" err="1" smtClean="0"/>
              <a:t>onboarding</a:t>
            </a:r>
            <a:r>
              <a:rPr lang="en-US" sz="2600" dirty="0" smtClean="0"/>
              <a:t> process before becoming part of the </a:t>
            </a:r>
            <a:r>
              <a:rPr lang="en-US" sz="2600" dirty="0" err="1" smtClean="0"/>
              <a:t>Ampy</a:t>
            </a:r>
            <a:r>
              <a:rPr lang="en-US" sz="2600" dirty="0" smtClean="0"/>
              <a:t> Logi network.</a:t>
            </a:r>
          </a:p>
          <a:p>
            <a:pPr>
              <a:buNone/>
            </a:pPr>
            <a:endParaRPr lang="en-US" sz="2600" dirty="0" smtClean="0"/>
          </a:p>
          <a:p>
            <a:r>
              <a:rPr lang="en-US" sz="2600" b="1" dirty="0" smtClean="0"/>
              <a:t>Q3) </a:t>
            </a:r>
            <a:r>
              <a:rPr lang="en-US" sz="2600" dirty="0" smtClean="0"/>
              <a:t>Do you provide B2B and B2C services?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Yes. </a:t>
            </a:r>
            <a:r>
              <a:rPr lang="en-US" sz="2600" dirty="0" err="1" smtClean="0"/>
              <a:t>Ampy</a:t>
            </a:r>
            <a:r>
              <a:rPr lang="en-US" sz="2600" dirty="0" smtClean="0"/>
              <a:t> Logi serves both businesses and individual customers.</a:t>
            </a:r>
          </a:p>
          <a:p>
            <a:pPr>
              <a:buNone/>
            </a:pPr>
            <a:endParaRPr lang="en-US" sz="2600" dirty="0" smtClean="0"/>
          </a:p>
          <a:p>
            <a:r>
              <a:rPr lang="en-US" sz="2600" b="1" dirty="0" smtClean="0"/>
              <a:t>Q4) </a:t>
            </a:r>
            <a:r>
              <a:rPr lang="en-US" sz="2600" dirty="0" smtClean="0"/>
              <a:t>Can I request a customized quotation?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Yes. Every logistics requirement is evaluated individually.</a:t>
            </a:r>
          </a:p>
          <a:p>
            <a:pPr>
              <a:buNone/>
            </a:pPr>
            <a:endParaRPr lang="en-US" sz="2600" dirty="0" smtClean="0"/>
          </a:p>
          <a:p>
            <a:r>
              <a:rPr lang="en-US" sz="2600" b="1" dirty="0" smtClean="0"/>
              <a:t>Q5) </a:t>
            </a:r>
            <a:r>
              <a:rPr lang="en-US" sz="2600" dirty="0" smtClean="0"/>
              <a:t>How can vendors join </a:t>
            </a:r>
            <a:r>
              <a:rPr lang="en-US" sz="2600" dirty="0" err="1" smtClean="0"/>
              <a:t>Ampy</a:t>
            </a:r>
            <a:r>
              <a:rPr lang="en-US" sz="2600" dirty="0" smtClean="0"/>
              <a:t> Logi?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Through the Vendor </a:t>
            </a:r>
            <a:r>
              <a:rPr lang="en-US" sz="2600" dirty="0" err="1" smtClean="0"/>
              <a:t>Onboarding</a:t>
            </a:r>
            <a:r>
              <a:rPr lang="en-US" sz="2600" dirty="0" smtClean="0"/>
              <a:t> Form and verification process.</a:t>
            </a:r>
          </a:p>
          <a:p>
            <a:pPr>
              <a:buNone/>
            </a:pPr>
            <a:endParaRPr lang="en-US" sz="2600" dirty="0" smtClean="0"/>
          </a:p>
          <a:p>
            <a:r>
              <a:rPr lang="en-US" sz="2600" b="1" dirty="0" smtClean="0"/>
              <a:t>Q6) </a:t>
            </a:r>
            <a:r>
              <a:rPr lang="en-US" sz="2600" dirty="0" smtClean="0"/>
              <a:t>Which industries do you currently support?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Household relocation, FMCG, construction materials, e-commerce, electronics, </a:t>
            </a:r>
            <a:r>
              <a:rPr lang="en-US" sz="2600" dirty="0" err="1" smtClean="0"/>
              <a:t>pharma</a:t>
            </a:r>
            <a:r>
              <a:rPr lang="en-US" sz="2600" dirty="0" smtClean="0"/>
              <a:t>, textile, energy equipment and more.</a:t>
            </a:r>
          </a:p>
          <a:p>
            <a:pPr>
              <a:buNone/>
            </a:pPr>
            <a:endParaRPr lang="en-US" sz="2600" dirty="0" smtClean="0"/>
          </a:p>
          <a:p>
            <a:r>
              <a:rPr lang="en-US" sz="2600" b="1" dirty="0" smtClean="0"/>
              <a:t>Q7) </a:t>
            </a:r>
            <a:r>
              <a:rPr lang="en-US" sz="2600" dirty="0" smtClean="0"/>
              <a:t>How can customers place orders?</a:t>
            </a:r>
          </a:p>
          <a:p>
            <a:r>
              <a:rPr lang="en-US" sz="2600" b="1" dirty="0" smtClean="0"/>
              <a:t>Answer: </a:t>
            </a:r>
            <a:r>
              <a:rPr lang="en-US" sz="2600" dirty="0" smtClean="0"/>
              <a:t>Through the Order Inquiry Form, direct call, email, or </a:t>
            </a:r>
            <a:r>
              <a:rPr lang="en-US" sz="2600" dirty="0" err="1" smtClean="0"/>
              <a:t>WhatsApp</a:t>
            </a:r>
            <a:r>
              <a:rPr lang="en-US" sz="2600" dirty="0" smtClean="0"/>
              <a:t>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1472" y="142852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dirty="0" smtClean="0"/>
              <a:t>FAQs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/>
              <a:t>* Challenges -</a:t>
            </a:r>
          </a:p>
          <a:p>
            <a:r>
              <a:rPr lang="en-US" sz="2000" dirty="0" smtClean="0"/>
              <a:t>Technology Development </a:t>
            </a:r>
          </a:p>
          <a:p>
            <a:r>
              <a:rPr lang="en-US" sz="2000" dirty="0" smtClean="0"/>
              <a:t>Working Capital </a:t>
            </a:r>
          </a:p>
          <a:p>
            <a:r>
              <a:rPr lang="en-US" sz="2000" dirty="0" smtClean="0"/>
              <a:t>Vendor Expansion </a:t>
            </a:r>
          </a:p>
          <a:p>
            <a:r>
              <a:rPr lang="en-US" sz="2000" dirty="0" smtClean="0"/>
              <a:t>Brand Building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400" b="1" dirty="0" smtClean="0"/>
              <a:t>* Immediate Focus -</a:t>
            </a:r>
          </a:p>
          <a:p>
            <a:r>
              <a:rPr lang="en-US" sz="2000" dirty="0" smtClean="0"/>
              <a:t>Website Launch </a:t>
            </a:r>
          </a:p>
          <a:p>
            <a:r>
              <a:rPr lang="en-US" sz="2000" dirty="0" smtClean="0"/>
              <a:t>Process Automation </a:t>
            </a:r>
          </a:p>
          <a:p>
            <a:r>
              <a:rPr lang="en-US" sz="2000" dirty="0" smtClean="0"/>
              <a:t>Customer Acquisition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Current Challenges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28596" y="1357298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👉</a:t>
            </a:r>
            <a:r>
              <a:rPr lang="en-US" sz="2400" b="1" dirty="0" smtClean="0"/>
              <a:t>Next 6 Months</a:t>
            </a:r>
          </a:p>
          <a:p>
            <a:r>
              <a:rPr lang="en-US" sz="2000" dirty="0" smtClean="0"/>
              <a:t>Website Launch </a:t>
            </a:r>
          </a:p>
          <a:p>
            <a:r>
              <a:rPr lang="en-US" sz="2000" dirty="0" smtClean="0"/>
              <a:t>CRM Deployment </a:t>
            </a:r>
          </a:p>
          <a:p>
            <a:r>
              <a:rPr lang="en-US" sz="2000" dirty="0" smtClean="0"/>
              <a:t>Vendor Expansion </a:t>
            </a:r>
          </a:p>
          <a:p>
            <a:r>
              <a:rPr lang="en-US" sz="2000" dirty="0" smtClean="0"/>
              <a:t>B2B Acquisition </a:t>
            </a:r>
          </a:p>
          <a:p>
            <a:r>
              <a:rPr lang="en-US" sz="2000" dirty="0" smtClean="0"/>
              <a:t>Process Standardization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👉</a:t>
            </a:r>
            <a:r>
              <a:rPr lang="en-US" sz="2400" b="1" dirty="0" smtClean="0"/>
              <a:t>Next 2 Years</a:t>
            </a:r>
          </a:p>
          <a:p>
            <a:r>
              <a:rPr lang="en-US" sz="2000" dirty="0" smtClean="0"/>
              <a:t>Multi-city Presence </a:t>
            </a:r>
          </a:p>
          <a:p>
            <a:r>
              <a:rPr lang="en-US" sz="2000" dirty="0" smtClean="0"/>
              <a:t>Vendor Marketplace </a:t>
            </a:r>
          </a:p>
          <a:p>
            <a:r>
              <a:rPr lang="en-US" sz="2000" dirty="0" smtClean="0"/>
              <a:t>Technology Platform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Future Roadmap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0034" y="1571612"/>
            <a:ext cx="8229600" cy="4525963"/>
          </a:xfrm>
        </p:spPr>
        <p:txBody>
          <a:bodyPr/>
          <a:lstStyle/>
          <a:p>
            <a:r>
              <a:rPr lang="en-US" dirty="0" smtClean="0"/>
              <a:t>Privacy Policy </a:t>
            </a:r>
          </a:p>
          <a:p>
            <a:r>
              <a:rPr lang="en-US" dirty="0" smtClean="0"/>
              <a:t>Terms &amp; Conditions </a:t>
            </a:r>
          </a:p>
          <a:p>
            <a:r>
              <a:rPr lang="en-US" dirty="0" smtClean="0"/>
              <a:t>Cancellation &amp; Refund Policy</a:t>
            </a:r>
          </a:p>
          <a:p>
            <a:r>
              <a:rPr lang="en-US" dirty="0" smtClean="0"/>
              <a:t> Data Security &amp; Customer Privacy</a:t>
            </a:r>
          </a:p>
          <a:p>
            <a:r>
              <a:rPr lang="en-US" dirty="0" smtClean="0"/>
              <a:t> Referral Program (Future)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Website Governance &amp; Trust Framework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 smtClean="0"/>
              <a:t>Thank You</a:t>
            </a:r>
          </a:p>
          <a:p>
            <a:pPr>
              <a:buNone/>
            </a:pPr>
            <a:endParaRPr lang="en-US" sz="2400" b="1" dirty="0" smtClean="0"/>
          </a:p>
          <a:p>
            <a:r>
              <a:rPr lang="en-US" sz="2400" b="1" dirty="0" err="1" smtClean="0"/>
              <a:t>Ampy</a:t>
            </a:r>
            <a:r>
              <a:rPr lang="en-US" sz="2400" b="1" dirty="0" smtClean="0"/>
              <a:t> Logi : </a:t>
            </a:r>
            <a:r>
              <a:rPr lang="en-US" sz="2000" dirty="0" smtClean="0"/>
              <a:t>Building Trust Through Logistics.</a:t>
            </a:r>
          </a:p>
          <a:p>
            <a:pPr>
              <a:buNone/>
            </a:pPr>
            <a:endParaRPr lang="en-US" sz="2000" dirty="0" smtClean="0"/>
          </a:p>
          <a:p>
            <a:r>
              <a:rPr lang="en-US" sz="2400" b="1" dirty="0" smtClean="0"/>
              <a:t>Founder : </a:t>
            </a:r>
            <a:r>
              <a:rPr lang="en-US" sz="2000" dirty="0" smtClean="0"/>
              <a:t>Satya Ranjan Patnaik</a:t>
            </a:r>
          </a:p>
          <a:p>
            <a:endParaRPr lang="en-US" sz="2000" dirty="0" smtClean="0"/>
          </a:p>
          <a:p>
            <a:r>
              <a:rPr lang="en-US" sz="2400" b="1" dirty="0" smtClean="0"/>
              <a:t>Contact: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000" dirty="0" smtClean="0"/>
              <a:t>Phone – 9777013918 (Business) , 8763993918 (Personal)</a:t>
            </a:r>
            <a:br>
              <a:rPr lang="en-US" sz="2000" dirty="0" smtClean="0"/>
            </a:br>
            <a:r>
              <a:rPr lang="en-US" sz="2000" dirty="0" smtClean="0"/>
              <a:t>Email – </a:t>
            </a:r>
            <a:r>
              <a:rPr lang="en-US" sz="2000" dirty="0" smtClean="0">
                <a:hlinkClick r:id="rId2"/>
              </a:rPr>
              <a:t>ampy.logi21@gmail.com</a:t>
            </a:r>
            <a:r>
              <a:rPr lang="en-US" sz="2000" dirty="0" smtClean="0"/>
              <a:t> (Business) , </a:t>
            </a:r>
            <a:r>
              <a:rPr lang="en-US" sz="2000" dirty="0" smtClean="0">
                <a:hlinkClick r:id="rId3"/>
              </a:rPr>
              <a:t>Satyaniks1@gmail.com</a:t>
            </a:r>
            <a:r>
              <a:rPr lang="en-US" sz="2000" dirty="0" smtClean="0"/>
              <a:t> (Personal)</a:t>
            </a:r>
            <a:br>
              <a:rPr lang="en-US" sz="2000" dirty="0" smtClean="0"/>
            </a:br>
            <a:r>
              <a:rPr lang="en-US" sz="2000" dirty="0" smtClean="0"/>
              <a:t>LinkedIn - </a:t>
            </a:r>
            <a:r>
              <a:rPr lang="en-US" sz="2000" u="sng" dirty="0" smtClean="0">
                <a:hlinkClick r:id="rId4"/>
              </a:rPr>
              <a:t>https://www.linkedin.com/company/ampy-logi</a:t>
            </a:r>
            <a:r>
              <a:rPr lang="en-US" sz="2000" u="sng" dirty="0" smtClean="0"/>
              <a:t> (Business), </a:t>
            </a:r>
            <a:r>
              <a:rPr lang="en-US" sz="2000" u="sng" dirty="0" smtClean="0">
                <a:hlinkClick r:id="rId5"/>
              </a:rPr>
              <a:t>https://www.linkedin.com/in/satya-ranjan-patnaik-725477134</a:t>
            </a:r>
            <a:r>
              <a:rPr lang="en-US" sz="2000" u="sng" dirty="0" smtClean="0"/>
              <a:t> (Personal)</a:t>
            </a:r>
            <a:endParaRPr lang="en-US" sz="2000" dirty="0" smtClean="0"/>
          </a:p>
          <a:p>
            <a:endParaRPr lang="en-US" sz="2000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Closing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686</TotalTime>
  <Words>989</Words>
  <Application>Microsoft Office PowerPoint</Application>
  <PresentationFormat>On-screen Show (4:3)</PresentationFormat>
  <Paragraphs>346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Concourse</vt:lpstr>
      <vt:lpstr>Custom Design</vt:lpstr>
      <vt:lpstr>AMPY LOGI – Building the operating system for Relocation &amp; Logistics Services.</vt:lpstr>
      <vt:lpstr>About AMPY LOGI</vt:lpstr>
      <vt:lpstr>Industry Problem -</vt:lpstr>
      <vt:lpstr>Our Solution</vt:lpstr>
      <vt:lpstr>Business Model</vt:lpstr>
      <vt:lpstr>Current Traction</vt:lpstr>
      <vt:lpstr>Customer Journey</vt:lpstr>
      <vt:lpstr>B2B Services</vt:lpstr>
      <vt:lpstr>B2B Services – Sub Categories</vt:lpstr>
      <vt:lpstr>B2C Services</vt:lpstr>
      <vt:lpstr>B2V Services </vt:lpstr>
      <vt:lpstr>Operational Process</vt:lpstr>
      <vt:lpstr>Vendor Network Strength</vt:lpstr>
      <vt:lpstr>Merchandise/D2C Execution Slide </vt:lpstr>
      <vt:lpstr>Technology Roadmap</vt:lpstr>
      <vt:lpstr>Why Ampy Logi ? </vt:lpstr>
      <vt:lpstr>Market Opportunity</vt:lpstr>
      <vt:lpstr>Customer Validation &amp; Live Testimonials</vt:lpstr>
      <vt:lpstr>FAQs</vt:lpstr>
      <vt:lpstr>Current Challenges</vt:lpstr>
      <vt:lpstr>Future Roadmap</vt:lpstr>
      <vt:lpstr>Website Governance &amp; Trust Framework</vt:lpstr>
      <vt:lpstr>Closing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SATYA RANJAN PATNAIK</dc:creator>
  <cp:lastModifiedBy>SATYA RANJAN PATNAIK</cp:lastModifiedBy>
  <cp:revision>109</cp:revision>
  <dcterms:created xsi:type="dcterms:W3CDTF">2026-06-05T08:24:05Z</dcterms:created>
  <dcterms:modified xsi:type="dcterms:W3CDTF">2026-06-06T09:59:55Z</dcterms:modified>
</cp:coreProperties>
</file>